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(mm)</c:v>
                </c:pt>
              </c:strCache>
            </c:strRef>
          </c:tx>
          <c:spPr>
            <a:solidFill>
              <a:srgbClr val="0B7B8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7B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8A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3B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乾淨場景
校正後</c:v>
                  </c:pt>
                  <c:pt idx="1">
                    <c:v>多徑
無抑制</c:v>
                  </c:pt>
                  <c:pt idx="2">
                    <c:v>多徑
橢圓校正後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0.016</c:v>
                </c:pt>
                <c:pt idx="1">
                  <c:v>8.36</c:v>
                </c:pt>
                <c:pt idx="2">
                  <c:v>3.06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4748B"/>
                    </a:solidFill>
                    <a:latin typeface="Arial"/>
                  </a:rPr>
                  <a:t>RMSE (mm)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846320"/>
            <a:ext cx="2011680" cy="2011680"/>
          </a:xfrm>
          <a:prstGeom prst="ellipse">
            <a:avLst/>
          </a:prstGeom>
          <a:ln w="15240">
            <a:solidFill>
              <a:srgbClr val="0E9AA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4069080"/>
            <a:ext cx="3566160" cy="3566160"/>
          </a:xfrm>
          <a:prstGeom prst="ellipse">
            <a:avLst/>
          </a:prstGeom>
          <a:ln w="15240">
            <a:solidFill>
              <a:srgbClr val="0E9AA7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3291840"/>
            <a:ext cx="5120640" cy="5120640"/>
          </a:xfrm>
          <a:prstGeom prst="ellipse">
            <a:avLst/>
          </a:prstGeom>
          <a:ln w="15240">
            <a:solidFill>
              <a:srgbClr val="0E9AA7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2514600"/>
            <a:ext cx="6675120" cy="6675120"/>
          </a:xfrm>
          <a:prstGeom prst="ellipse">
            <a:avLst/>
          </a:prstGeom>
          <a:ln w="15240">
            <a:solidFill>
              <a:srgbClr val="0E9AA7">
                <a:alpha val="2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051560"/>
            <a:ext cx="914400" cy="91440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2893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2402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六埠 CW 雷達 · 多徑干擾模擬器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41248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可配置模擬實際環境、採集實驗數據，研究 six-port radar 的多徑抑制方法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模擬器</a:t>
            </a:r>
            <a:pPr indent="0" marL="0">
              <a:buNone/>
            </a:pPr>
            <a:r>
              <a:rPr lang="en-US" sz="1400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I/Q 解調 + 橢圓校正</a:t>
            </a:r>
            <a:pPr indent="0" marL="0">
              <a:buNone/>
            </a:pPr>
            <a:r>
              <a:rPr lang="en-US" sz="1400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RMSE 對照基線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問題定義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六埠雷達沒有現成的「環境模擬器」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FMCW 毫米波有 RadarSimPy、ViRa 等場景模擬器；六埠雷達卻幾乎沒有。差別在於——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23744"/>
            <a:ext cx="640080" cy="640080"/>
          </a:xfrm>
          <a:prstGeom prst="ellipse">
            <a:avLst/>
          </a:prstGeom>
          <a:solidFill>
            <a:srgbClr val="0D3B5C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690165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38658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核心在 RF 前端，不在場景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28800" y="284378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六埠用被動元件（耦合器、功率分配器、90° hybrid）＋四個功率感測器直接做 I/Q 解調，沒有解調晶片。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61188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895344"/>
            <a:ext cx="640080" cy="640080"/>
          </a:xfrm>
          <a:prstGeom prst="ellipse">
            <a:avLst/>
          </a:prstGeom>
          <a:solidFill>
            <a:srgbClr val="0D3B5C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4061765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375818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靠校正消除硬體缺陷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828800" y="421538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增益失衡、檢波非線性、埠相位誤差都得靠校正流程補償，這才是模擬的重點。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498348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5266944"/>
            <a:ext cx="640080" cy="640080"/>
          </a:xfrm>
          <a:prstGeom prst="ellipse">
            <a:avLst/>
          </a:prstGeom>
          <a:solidFill>
            <a:srgbClr val="0D3B5C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433365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512978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模擬＝在網路層級自己搭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828800" y="5586984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把「檢波 → I/Q → 校正」這條鏈做對，比找套件更務實。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物理模型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整條訊號鏈：從多路徑回波到位移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2487168" cy="2286000"/>
          </a:xfrm>
          <a:prstGeom prst="roundRect">
            <a:avLst>
              <a:gd name="adj" fmla="val 4000"/>
            </a:avLst>
          </a:prstGeom>
          <a:solidFill>
            <a:srgbClr val="FBEFDD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7904" y="2761488"/>
            <a:ext cx="822960" cy="822960"/>
          </a:xfrm>
          <a:prstGeom prst="ellipse">
            <a:avLst/>
          </a:prstGeom>
          <a:solidFill>
            <a:srgbClr val="0D3B5C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874" y="2975458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70332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多路徑回波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95528" y="413308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B(t) = Σ ρₖ·e^{jφₖ(t)}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46557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57016" y="2468880"/>
            <a:ext cx="2487168" cy="2286000"/>
          </a:xfrm>
          <a:prstGeom prst="roundRect">
            <a:avLst>
              <a:gd name="adj" fmla="val 40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89120" y="2761488"/>
            <a:ext cx="822960" cy="822960"/>
          </a:xfrm>
          <a:prstGeom prst="ellipse">
            <a:avLst/>
          </a:prstGeom>
          <a:solidFill>
            <a:srgbClr val="0B7B85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090" y="2975458"/>
            <a:ext cx="395021" cy="395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57016" y="370332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六埠檢波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3666744" y="413308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四路功率 Pᵢ → 電壓 Vᵢ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346557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28232" y="2468880"/>
            <a:ext cx="2487168" cy="2286000"/>
          </a:xfrm>
          <a:prstGeom prst="roundRect">
            <a:avLst>
              <a:gd name="adj" fmla="val 40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260336" y="2761488"/>
            <a:ext cx="822960" cy="82296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306" y="2975458"/>
            <a:ext cx="395021" cy="3950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28232" y="370332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/ Q 還原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6537960" y="413308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I=v₁−v₃, Q=v₂−v₄</a:t>
            </a:r>
            <a:endParaRPr lang="en-US" sz="12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3465576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299448" y="2468880"/>
            <a:ext cx="2487168" cy="2286000"/>
          </a:xfrm>
          <a:prstGeom prst="roundRect">
            <a:avLst>
              <a:gd name="adj" fmla="val 4000"/>
            </a:avLst>
          </a:prstGeom>
          <a:solidFill>
            <a:srgbClr val="FBEFDD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10131552" y="2761488"/>
            <a:ext cx="822960" cy="822960"/>
          </a:xfrm>
          <a:prstGeom prst="ellipse">
            <a:avLst/>
          </a:prstGeom>
          <a:solidFill>
            <a:srgbClr val="E08A2B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5522" y="2975458"/>
            <a:ext cx="395021" cy="39502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299448" y="3703320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位移</a:t>
            </a:r>
            <a:endParaRPr lang="en-US" sz="1800" dirty="0"/>
          </a:p>
        </p:txBody>
      </p:sp>
      <p:sp>
        <p:nvSpPr>
          <p:cNvPr id="26" name="Text 17"/>
          <p:cNvSpPr/>
          <p:nvPr/>
        </p:nvSpPr>
        <p:spPr>
          <a:xfrm>
            <a:off x="9409176" y="413308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φ·λ / 4π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685800" y="5074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「相加」這個動作，正是多徑 / 多目標干擾進入系統的數學本質。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多徑模型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多徑如何進入系統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0E2433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總回波 B(t)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Σₖ  ρₖ · exp( j·φₖ(t) 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φₖ(t) = (4π/λ)·( dₖ + xₖ(t) ) + φₖ₀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73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每條路徑有自己的距離、反射率與運動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主目標（胸腔）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呼吸 0.3 + 心跳 1.2 Hz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靜態多徑（牆）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無（固定相量）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動態多徑（風扇）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正弦 0.75 Hz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0350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這正是研究多徑抑制的標準三路徑場景。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3434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4572000"/>
            <a:ext cx="640080" cy="640080"/>
          </a:xfrm>
          <a:prstGeom prst="ellipse">
            <a:avLst/>
          </a:prstGeom>
          <a:solidFill>
            <a:srgbClr val="0B7B85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47384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4498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靜態多徑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691640" y="489204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固定相量 → I/Q 平面圓心平移，可被校正移除。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172200" y="43434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BEFDD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4572000"/>
            <a:ext cx="640080" cy="640080"/>
          </a:xfrm>
          <a:prstGeom prst="ellipse">
            <a:avLst/>
          </a:prstGeom>
          <a:solidFill>
            <a:srgbClr val="E08A2B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473842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23760" y="4498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動態多徑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7223760" y="489204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自己也在轉相量，校正吃不掉 → 真正的難題。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檢波與解調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六埠檢波 → I/Q → 位移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78024"/>
            <a:ext cx="640080" cy="64008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644445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4086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四路功率檢波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0" y="23225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Pᵢ = |B + L·e^{jθᵢ}|²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0" y="2798064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θᵢ 理想為 0/90/180/270°；非理想：增益失衡、二階非線性、埠相位誤差、DC 偏移、雜訊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56616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849624"/>
            <a:ext cx="640080" cy="64008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4016045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371246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差分還原 I/Q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72000" y="36941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v₁−v₃    Q = v₂−v₄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72000" y="4169664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理想下消掉共同的 |B|²+L² 項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93776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5221224"/>
            <a:ext cx="640080" cy="64008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387645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508406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相位 → 位移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4572000" y="50657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x(t) = unwrap(atan2(Q,I))·λ/4π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4572000" y="5541264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只觀測相對位移，需扣均值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資料採集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擺場景 → 收數據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0E2433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6446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 = SixPortRadarSimulator(f0_hz=24e9, fs_hz=200)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E7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sim.add_path(Path(0.50, 1.0, vital_signs_motion()))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8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# 主目標：胸腔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E7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sim.add_path(Path(0.87, 0.8, name="wall"))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8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# 靜態多徑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E7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sim.add_path(Path(0.70, 0.5, sinusoid_motion(2e-3,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8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0.75)))   # 動態干擾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C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sim.collect(duration_s=30)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SixPortRadarSimulator.save(data, "exp01.npz",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"exp01.csv")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26680" y="1691640"/>
            <a:ext cx="3794760" cy="1600200"/>
          </a:xfrm>
          <a:prstGeom prst="roundRect">
            <a:avLst>
              <a:gd name="adj" fmla="val 5714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0" y="1874520"/>
            <a:ext cx="566928" cy="566928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2681" y="202192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輸出數據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0" y="2514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data["V"] = 4×N 量測電壓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.csv → 餵演算法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.npz → 含 ground truth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26680" y="3474720"/>
            <a:ext cx="3794760" cy="1600200"/>
          </a:xfrm>
          <a:prstGeom prst="roundRect">
            <a:avLst>
              <a:gd name="adj" fmla="val 5714"/>
            </a:avLst>
          </a:prstGeom>
          <a:solidFill>
            <a:srgbClr val="0D3B5C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26680" y="363931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6001</a:t>
            </a:r>
            <a:endParaRPr lang="en-US" sz="5000" dirty="0"/>
          </a:p>
        </p:txBody>
      </p:sp>
      <p:sp>
        <p:nvSpPr>
          <p:cNvPr id="13" name="Text 10"/>
          <p:cNvSpPr/>
          <p:nvPr/>
        </p:nvSpPr>
        <p:spPr>
          <a:xfrm>
            <a:off x="7726680" y="44988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筆樣本  ·  30 s × 200 Hz  ·  v1–v4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換載波（5.8 / 24 / 60 GHz）、採樣率、硬體缺陷，全部改參數即可。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關鍵現象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I/Q 平面：多徑如何破壞訊號</a:t>
            </a:r>
            <a:endParaRPr lang="en-US" sz="3000" dirty="0"/>
          </a:p>
        </p:txBody>
      </p:sp>
      <p:pic>
        <p:nvPicPr>
          <p:cNvPr id="4" name="Image 0" descr="slide_i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98348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2020824"/>
            <a:ext cx="201168" cy="201168"/>
          </a:xfrm>
          <a:prstGeom prst="ellipse">
            <a:avLst/>
          </a:prstGeom>
          <a:solidFill>
            <a:srgbClr val="0B7B85"/>
          </a:solidFill>
          <a:ln/>
        </p:spPr>
      </p:sp>
      <p:sp>
        <p:nvSpPr>
          <p:cNvPr id="6" name="Text 3"/>
          <p:cNvSpPr/>
          <p:nvPr/>
        </p:nvSpPr>
        <p:spPr>
          <a:xfrm>
            <a:off x="6355080" y="192024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乾淨場景：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I/Q 是一段乾淨的弧。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989320" y="2935224"/>
            <a:ext cx="201168" cy="201168"/>
          </a:xfrm>
          <a:prstGeom prst="ellipse">
            <a:avLst/>
          </a:prstGeom>
          <a:solidFill>
            <a:srgbClr val="E08A2B"/>
          </a:solidFill>
          <a:ln/>
        </p:spPr>
      </p:sp>
      <p:sp>
        <p:nvSpPr>
          <p:cNvPr id="8" name="Text 5"/>
          <p:cNvSpPr/>
          <p:nvPr/>
        </p:nvSpPr>
        <p:spPr>
          <a:xfrm>
            <a:off x="6355080" y="283464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加多徑後：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整段被推離原點、被擠壓變形。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989320" y="3849624"/>
            <a:ext cx="201168" cy="201168"/>
          </a:xfrm>
          <a:prstGeom prst="ellipse">
            <a:avLst/>
          </a:prstGeom>
          <a:solidFill>
            <a:srgbClr val="0D3B5C"/>
          </a:solidFill>
          <a:ln/>
        </p:spPr>
      </p:sp>
      <p:sp>
        <p:nvSpPr>
          <p:cNvPr id="10" name="Text 7"/>
          <p:cNvSpPr/>
          <p:nvPr/>
        </p:nvSpPr>
        <p:spPr>
          <a:xfrm>
            <a:off x="6355080" y="374904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靜態多徑：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等於加一個固定相量 → 圓心平移 ≈ (−14.4, 2.4)。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989320" y="475488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FBEFDD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4983480"/>
            <a:ext cx="566928" cy="566928"/>
          </a:xfrm>
          <a:prstGeom prst="ellipse">
            <a:avLst/>
          </a:prstGeom>
          <a:solidFill>
            <a:srgbClr val="E08A2B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321" y="513088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486460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移動干擾源自己也在轉相量——這是橢圓校正吃不掉的殘差。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量化結果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位移還原 RMSE：基線能走多遠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1264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783080"/>
            <a:ext cx="4480560" cy="1874520"/>
          </a:xfrm>
          <a:prstGeom prst="roundRect">
            <a:avLst>
              <a:gd name="adj" fmla="val 487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269480" y="2011680"/>
            <a:ext cx="566928" cy="566928"/>
          </a:xfrm>
          <a:prstGeom prst="ellipse">
            <a:avLst/>
          </a:prstGeom>
          <a:solidFill>
            <a:srgbClr val="0B7B85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81" y="2159081"/>
            <a:ext cx="272125" cy="272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管線本身正確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269480" y="2697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乾淨場景 RMSE 僅 0.016 mm，幾乎完美還原位移。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040880" y="3840480"/>
            <a:ext cx="4480560" cy="2148840"/>
          </a:xfrm>
          <a:prstGeom prst="roundRect">
            <a:avLst>
              <a:gd name="adj" fmla="val 4255"/>
            </a:avLst>
          </a:prstGeom>
          <a:solidFill>
            <a:srgbClr val="FBEFDD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269480" y="4069080"/>
            <a:ext cx="566928" cy="566928"/>
          </a:xfrm>
          <a:prstGeom prst="ellipse">
            <a:avLst/>
          </a:prstGeom>
          <a:solidFill>
            <a:srgbClr val="E08A2B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81" y="4216481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殘差就卡在這裡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269480" y="47548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橢圓校正把 8.36 → 3.06 mm：靜態多徑除掉了，動態干擾還在。這就是最值得發論文的地方。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研究路線圖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干擾抑制：三條主攻方向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基線（橢圓校正）已寫好；你的方法在 extract_iq 之後接手，跟基線比 RMSE。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84448" cy="3657600"/>
          </a:xfrm>
          <a:prstGeom prst="roundRect">
            <a:avLst>
              <a:gd name="adj" fmla="val 255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23160"/>
            <a:ext cx="713232" cy="713232"/>
          </a:xfrm>
          <a:prstGeom prst="ellipse">
            <a:avLst/>
          </a:prstGeom>
          <a:solidFill>
            <a:srgbClr val="0B7B85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260860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0487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靜態雜波校正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83080" y="282549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較成熟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3429000"/>
            <a:ext cx="29443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弧段短時更穩健的圓心估計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arc-fitting / RANSAC 抗離群點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71416" y="2148840"/>
            <a:ext cx="3584448" cy="3657600"/>
          </a:xfrm>
          <a:prstGeom prst="roundRect">
            <a:avLst>
              <a:gd name="adj" fmla="val 2551"/>
            </a:avLst>
          </a:prstGeom>
          <a:solidFill>
            <a:srgbClr val="FBEFDD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45736" y="2423160"/>
            <a:ext cx="713232" cy="713232"/>
          </a:xfrm>
          <a:prstGeom prst="ellipse">
            <a:avLst/>
          </a:prstGeom>
          <a:solidFill>
            <a:srgbClr val="E08A2B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176" y="2608600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14416" y="240487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動態干擾分離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614416" y="282549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硬骨頭 · 高價值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91456" y="3429000"/>
            <a:ext cx="29443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譜域濾波（0.3 / 1.2 / 0.75 Hz）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自適應濾波 LMS / RLS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盲源分離 EMD / VMD / ICA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302752" y="2148840"/>
            <a:ext cx="3584448" cy="3657600"/>
          </a:xfrm>
          <a:prstGeom prst="roundRect">
            <a:avLst>
              <a:gd name="adj" fmla="val 255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77072" y="2423160"/>
            <a:ext cx="713232" cy="713232"/>
          </a:xfrm>
          <a:prstGeom prst="ellipse">
            <a:avLst/>
          </a:prstGeom>
          <a:solidFill>
            <a:srgbClr val="0D3B5C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512" y="2608600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45752" y="240487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波形 / 系統層面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445752" y="282549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最根本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622792" y="3429000"/>
            <a:ext cx="29443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 → 步進頻率 / FMCW 取得距離維度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多天線增加空間自由度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1097280"/>
            <a:ext cx="1828800" cy="1828800"/>
          </a:xfrm>
          <a:prstGeom prst="ellipse">
            <a:avLst/>
          </a:prstGeom>
          <a:ln w="15240">
            <a:solidFill>
              <a:srgbClr val="0E9AA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65760"/>
            <a:ext cx="3291840" cy="3291840"/>
          </a:xfrm>
          <a:prstGeom prst="ellipse">
            <a:avLst/>
          </a:prstGeom>
          <a:ln w="15240">
            <a:solidFill>
              <a:srgbClr val="0E9AA7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194560" y="-365760"/>
            <a:ext cx="4754880" cy="4754880"/>
          </a:xfrm>
          <a:prstGeom prst="ellipse">
            <a:avLst/>
          </a:prstGeom>
          <a:ln w="15240">
            <a:solidFill>
              <a:srgbClr val="0E9AA7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926080" y="-1097280"/>
            <a:ext cx="6217920" cy="6217920"/>
          </a:xfrm>
          <a:prstGeom prst="ellipse">
            <a:avLst/>
          </a:prstGeom>
          <a:ln w="15240">
            <a:solidFill>
              <a:srgbClr val="0E9AA7">
                <a:alpha val="2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777240"/>
            <a:ext cx="914400" cy="914400"/>
          </a:xfrm>
          <a:prstGeom prst="ellipse">
            <a:avLst/>
          </a:prstGeom>
          <a:solidFill>
            <a:srgbClr val="0E9AA7"/>
          </a:solidFill>
          <a:ln/>
          <a:effectLst>
            <a:outerShdw sx="100000" sy="100000" kx="0" ky="0" algn="bl" rotWithShape="0" blurRad="114300" dist="38100" dir="5400000">
              <a:srgbClr val="0E2433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4" y="10149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011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下一步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41248" y="2971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選定主攻方向後，把該方法實作進 pipeline，用模擬器跑對照實驗，量出相對基線把 RMSE 壓低多少。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1248" y="4480560"/>
            <a:ext cx="2304288" cy="457200"/>
          </a:xfrm>
          <a:prstGeom prst="roundRect">
            <a:avLst>
              <a:gd name="adj" fmla="val 16000"/>
            </a:avLst>
          </a:prstGeom>
          <a:solidFill>
            <a:srgbClr val="0D3B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6177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25296" y="44805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sixport_radar_sim.py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74136" y="4480560"/>
            <a:ext cx="2016252" cy="457200"/>
          </a:xfrm>
          <a:prstGeom prst="roundRect">
            <a:avLst>
              <a:gd name="adj" fmla="val 16000"/>
            </a:avLst>
          </a:prstGeom>
          <a:solidFill>
            <a:srgbClr val="0D3B5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461772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58184" y="4480560"/>
            <a:ext cx="15590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demo_multipath.py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618988" y="4480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0D3B5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292" y="4617720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03036" y="4480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sixport_dataset.csv / .npz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727948" y="4480560"/>
            <a:ext cx="2496312" cy="457200"/>
          </a:xfrm>
          <a:prstGeom prst="roundRect">
            <a:avLst>
              <a:gd name="adj" fmla="val 16000"/>
            </a:avLst>
          </a:prstGeom>
          <a:solidFill>
            <a:srgbClr val="0D3B5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252" y="461772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11996" y="448056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sixport_radar_notes.md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六埠雷達多徑干擾模擬器</dc:title>
  <dc:subject>PptxGenJS Presentation</dc:subject>
  <dc:creator>Radar Research</dc:creator>
  <cp:lastModifiedBy>Radar Research</cp:lastModifiedBy>
  <cp:revision>1</cp:revision>
  <dcterms:created xsi:type="dcterms:W3CDTF">2026-06-25T04:40:48Z</dcterms:created>
  <dcterms:modified xsi:type="dcterms:W3CDTF">2026-06-25T04:40:48Z</dcterms:modified>
</cp:coreProperties>
</file>